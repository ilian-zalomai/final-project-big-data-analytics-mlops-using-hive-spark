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C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30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CAF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0CAF9"/>
                </a:solidFill>
                <a:latin typeface="Arial"/>
              </a:rPr>
              <a:t>Delay Rate (%)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20.3</c:v>
                </c:pt>
                <c:pt idx="1">
                  <c:v>22.4</c:v>
                </c:pt>
                <c:pt idx="2">
                  <c:v>18.5</c:v>
                </c:pt>
                <c:pt idx="3">
                  <c:v>16.3</c:v>
                </c:pt>
                <c:pt idx="4">
                  <c:v>17.600000000000001</c:v>
                </c:pt>
                <c:pt idx="5">
                  <c:v>22.5</c:v>
                </c:pt>
                <c:pt idx="6">
                  <c:v>20</c:v>
                </c:pt>
                <c:pt idx="7">
                  <c:v>18</c:v>
                </c:pt>
                <c:pt idx="8">
                  <c:v>12.4</c:v>
                </c:pt>
                <c:pt idx="9">
                  <c:v>11.6</c:v>
                </c:pt>
                <c:pt idx="10">
                  <c:v>14.6</c:v>
                </c:pt>
                <c:pt idx="11">
                  <c:v>19.600000000000001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A-4548-BE41-892A47F891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546E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2A-4976-B732-BEA7A8DA7168}"/>
              </c:ext>
            </c:extLst>
          </c:dPt>
          <c:dPt>
            <c:idx val="1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2A-4976-B732-BEA7A8DA7168}"/>
              </c:ext>
            </c:extLst>
          </c:dPt>
          <c:dPt>
            <c:idx val="2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2A-4976-B732-BEA7A8DA7168}"/>
              </c:ext>
            </c:extLst>
          </c:dPt>
          <c:dPt>
            <c:idx val="3"/>
            <c:invertIfNegative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2A-4976-B732-BEA7A8DA71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Random Forest</c:v>
                </c:pt>
                <c:pt idx="2">
                  <c:v>GBT Untuned</c:v>
                </c:pt>
                <c:pt idx="3">
                  <c:v>GBT Tuned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0.66549999999999998</c:v>
                </c:pt>
                <c:pt idx="1">
                  <c:v>0.61040000000000005</c:v>
                </c:pt>
                <c:pt idx="2">
                  <c:v>0.66520000000000001</c:v>
                </c:pt>
                <c:pt idx="3">
                  <c:v>0.6774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2A-4976-B732-BEA7A8DA71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>
                    <a:solidFill>
                      <a:srgbClr val="90CAF9"/>
                    </a:solidFill>
                  </a:rPr>
                  <a:t>Models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2"/>
          <c:min val="0.55000000000000004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>
                    <a:solidFill>
                      <a:srgbClr val="90CAF9"/>
                    </a:solidFill>
                  </a:rPr>
                  <a:t>AUC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(min)</c:v>
                </c:pt>
              </c:strCache>
            </c:strRef>
          </c:tx>
          <c:spPr>
            <a:solidFill>
              <a:srgbClr val="546E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2FD-4F54-8FFE-8B1BAD0F04C0}"/>
              </c:ext>
            </c:extLst>
          </c:dPt>
          <c:dPt>
            <c:idx val="1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FD-4F54-8FFE-8B1BAD0F04C0}"/>
              </c:ext>
            </c:extLst>
          </c:dPt>
          <c:dPt>
            <c:idx val="2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2FD-4F54-8FFE-8B1BAD0F04C0}"/>
              </c:ext>
            </c:extLst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2FD-4F54-8FFE-8B1BAD0F04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Reg.</c:v>
                </c:pt>
                <c:pt idx="1">
                  <c:v>Random Forest</c:v>
                </c:pt>
                <c:pt idx="2">
                  <c:v>GBT Untuned</c:v>
                </c:pt>
                <c:pt idx="3">
                  <c:v>GBT Tuned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32.1</c:v>
                </c:pt>
                <c:pt idx="1">
                  <c:v>31.4</c:v>
                </c:pt>
                <c:pt idx="2">
                  <c:v>30.9</c:v>
                </c:pt>
                <c:pt idx="3">
                  <c:v>30.59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FD-4F54-8FFE-8B1BAD0F04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>
                    <a:solidFill>
                      <a:srgbClr val="90CAF9"/>
                    </a:solidFill>
                  </a:rPr>
                  <a:t>Models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3"/>
          <c:min val="29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>
                    <a:solidFill>
                      <a:srgbClr val="90CAF9"/>
                    </a:solidFill>
                  </a:rPr>
                  <a:t>RMSE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24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Flight Disruption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Apache Spark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" y="2331720"/>
            <a:ext cx="882396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Airline Operations Data with Semi-Structured Weather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Atai Kamchybekov  ·  Paul Nguyen  ·  Nicholas Sopcic  ·  Ilian Zalomai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794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94560" y="3794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9456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86200" y="3794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3794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7784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69480" y="3794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6948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474720"/>
          </a:xfrm>
          <a:prstGeom prst="rect">
            <a:avLst/>
          </a:prstGeom>
          <a:solidFill>
            <a:srgbClr val="162035"/>
          </a:solidFill>
          <a:ln w="190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188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Flights CSV (Kaggle)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&amp; Airlines CSVs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Weather API (JSON)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162035"/>
          </a:solidFill>
          <a:ln w="190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65176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887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flight cancellations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arrival delay (mins)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proactive ops planning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960120"/>
            <a:ext cx="2651760" cy="3474720"/>
          </a:xfrm>
          <a:prstGeom prst="rect">
            <a:avLst/>
          </a:prstGeom>
          <a:solidFill>
            <a:srgbClr val="162035"/>
          </a:solidFill>
          <a:ln w="190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72200" y="960120"/>
            <a:ext cx="265176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1887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+ Spark SQL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for ML models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for experiment tracking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when/where airlines should expect disruption risk and enable proactive staffing, gate &amp; communication decisions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 — Problem Definition &amp; Data Ingestion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Ingest: flights.csv, airports.csv, airlines.csv → Spark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Spark SQL exploration — null checks, top airports, cancellation breakdown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Clean: drop duplicates, create FL_DATE from YEAR/MONTH/DAY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072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Weather JSON (Open-Meteo API) → parse → weather_daily table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Join weather to flights on (ORIGIN_AIRPORT, FL_DATE)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Save cleaned output as Parquet (flights_gold)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60520" cy="4023360"/>
          </a:xfrm>
          <a:prstGeom prst="rect">
            <a:avLst/>
          </a:prstGeom>
          <a:solidFill>
            <a:srgbClr val="162035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3931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origin airports → ~82.2% of flights enriched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3931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148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WEATHER_DELAY, AIRLINE_DELAY etc. kept for EDA only — excluded from 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3931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+ OneHotEncoder + VectorAssembler → features column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3931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703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931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format for efficient downstream reads (flights_gold)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EDA Key Insights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7772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77240"/>
            <a:ext cx="2926080" cy="749808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9144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6520" y="822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46520" y="1161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— Worst Month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46520" y="13441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&amp; Feb peak delay months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852160" y="1618488"/>
            <a:ext cx="2926080" cy="749808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175564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4652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446520" y="2002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— Best Month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446520" y="21854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flights arrive early avg.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852160" y="2459736"/>
            <a:ext cx="2926080" cy="749808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596896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6520" y="25054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+5.1%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46520" y="28437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 Effect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46520" y="30266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wx raises delay rate to 25.5%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852160" y="3300984"/>
            <a:ext cx="2926080" cy="749808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43814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46520" y="33467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446520" y="3685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Peak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446520" y="38679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(15.3%) is lowest day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320040" y="3639312"/>
            <a:ext cx="5303520" cy="1234440"/>
          </a:xfrm>
          <a:prstGeom prst="rect">
            <a:avLst/>
          </a:prstGeom>
          <a:solidFill>
            <a:srgbClr val="162035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411480" y="36758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Performance Snapshot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950208"/>
          <a:ext cx="5120640" cy="86868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Spirit Airlines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Hawaiian Airlines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 Airlines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3A —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828800"/>
          </a:xfrm>
          <a:prstGeom prst="rect">
            <a:avLst/>
          </a:prstGeom>
          <a:solidFill>
            <a:srgbClr val="162035"/>
          </a:solidFill>
          <a:ln w="190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932688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SCHEDULED_DEPARTURE, MONTH, DAY_OF_WEEK → sin/cos pairs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circular structure (Dec→Jan, 23:59→00:01 treated as adjacent)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160520" cy="1828800"/>
          </a:xfrm>
          <a:prstGeom prst="rect">
            <a:avLst/>
          </a:prstGeom>
          <a:solidFill>
            <a:srgbClr val="162035"/>
          </a:solidFill>
          <a:ln w="1905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" y="2944368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Median Imputation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temp_avg, precip_sum, wind_gust_max medians computed on train split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leakage from test-set distributions into imputed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822960"/>
            <a:ext cx="4160520" cy="1828800"/>
          </a:xfrm>
          <a:prstGeom prst="rect">
            <a:avLst/>
          </a:prstGeom>
          <a:solidFill>
            <a:srgbClr val="162035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10328" y="932688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0328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Cap + log1p (ARRIVAL_DELAY)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capped at 99th percentile → ARRIVAL_DELAY_CAPPED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applied after cap+shift for variance stabilization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160520" cy="1828800"/>
          </a:xfrm>
          <a:prstGeom prst="rect">
            <a:avLst/>
          </a:prstGeom>
          <a:solidFill>
            <a:srgbClr val="162035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10328" y="294436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03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Transformation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(right-skewed) → LOG_DISTANCE via log1p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skew so linear models aren't dominated by ultra-long routes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Predictive Modeling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172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(is_delayed)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687382891"/>
              </p:ext>
            </p:extLst>
          </p:nvPr>
        </p:nvGraphicFramePr>
        <p:xfrm>
          <a:off x="320040" y="935205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6172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(ARRIVAL_DELAY_CAPPED)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1097618143"/>
              </p:ext>
            </p:extLst>
          </p:nvPr>
        </p:nvGraphicFramePr>
        <p:xfrm>
          <a:off x="4709160" y="935205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611880"/>
            <a:ext cx="8503920" cy="1280160"/>
          </a:xfrm>
          <a:prstGeom prst="rect">
            <a:avLst/>
          </a:prstGeom>
          <a:solidFill>
            <a:srgbClr val="0D2137"/>
          </a:solidFill>
          <a:ln w="190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3611880"/>
            <a:ext cx="73152" cy="12801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36576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Winner: Gradient Boosting (Tuned)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0.677  |  Precision 79%  |  Recall 82%     </a:t>
            </a: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30.59 min  |  MAE 19.08 min  |  R² 0.074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MLOps &amp; Reproducibility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3108960"/>
        </p:xfrm>
        <a:graphic>
          <a:graphicData uri="http://schemas.openxmlformats.org/drawingml/2006/table">
            <a:tbl>
              <a:tblPr/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Logistic_Regression_clf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Random_Forest_clf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GBT_clf_untuned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GBT_clf_tuned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0.6774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Linear_Regression_reg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Random_Forest_reg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GBT_reg_untuned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GBTRegressor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GBT_reg_tuned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GBTRegressor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30.59 min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069080"/>
            <a:ext cx="19659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114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Pipelines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4407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900" dirty="0"/>
          </a:p>
        </p:txBody>
      </p:sp>
      <p:sp>
        <p:nvSpPr>
          <p:cNvPr id="4" name="Shape 5"/>
          <p:cNvSpPr/>
          <p:nvPr/>
        </p:nvSpPr>
        <p:spPr>
          <a:xfrm>
            <a:off x="2468880" y="4069080"/>
            <a:ext cx="19659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14600" y="4114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14600" y="4407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Parameter Audit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7720" y="4069080"/>
            <a:ext cx="19659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63440" y="4114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Storage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4407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Reproducibility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66560" y="4069080"/>
            <a:ext cx="19659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12280" y="4114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4407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Cross-Model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1920240"/>
          </a:xfrm>
          <a:prstGeom prst="rect">
            <a:avLst/>
          </a:prstGeom>
          <a:solidFill>
            <a:srgbClr val="162035"/>
          </a:solidFill>
          <a:ln w="190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950976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950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Crew &amp; Gate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recall → correctly identifies 4 in 5 delayed flights before departure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gate reallocation &amp; crew repositioning before cascading disruptions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880360"/>
            <a:ext cx="4206240" cy="1920240"/>
          </a:xfrm>
          <a:prstGeom prst="rect">
            <a:avLst/>
          </a:prstGeom>
          <a:solidFill>
            <a:srgbClr val="162035"/>
          </a:solidFill>
          <a:ln w="1905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" y="3008376"/>
            <a:ext cx="411480" cy="4114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Weather-Triggered Contingency Protocols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next-day forecasts into severe_weather_flag for 24hr forward-looking risk scores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trigger for NOC staffing plans &amp; spare aircraft pre-positioning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206240" cy="1920240"/>
          </a:xfrm>
          <a:prstGeom prst="rect">
            <a:avLst/>
          </a:prstGeom>
          <a:solidFill>
            <a:srgbClr val="162035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64608" y="950976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950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Schedule Optimization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463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 min MAE gives scheduling teams quantitative basis for targeted buffer 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delay rates range 2%–49% — high-end routes are clear candidates for adjustment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206240" cy="1920240"/>
          </a:xfrm>
          <a:prstGeom prst="rect">
            <a:avLst/>
          </a:prstGeom>
          <a:solidFill>
            <a:srgbClr val="162035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64608" y="3008376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Rebooking Automation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delay estimate in minutes → threshold-based auto rebooking offers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inbound CS volume during disruptions before passengers reach gate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Limitations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162035"/>
          </a:solidFill>
          <a:ln w="19050">
            <a:solidFill>
              <a:srgbClr val="EF53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Known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tail-number maintenance history — cannot isolate mechanical failures from weather delays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0.07 — significant unexplained variance in delay minutes; delay causes are complex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5328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coverage ~82% — 18% of flights lack weather 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363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1363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 removed due to Databricks free-tier cache limits — hyperparams set by domain reasoning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3989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7398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year of data (2015) — seasonal patterns may shift across years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162035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Considerations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73168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13258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 pipeline with rolling delay probabilities using real-time weather &amp; departure 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192938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01768" y="192938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ATC feeds for tactical ground stop awareness mid-flight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53288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01768" y="25328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aircraft maintenance logs to distinguish weather vs. mechanical disruptions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31363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01768" y="313639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individual aircraft across full daily sequence to detect cascading delay chains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73989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01768" y="373989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Parquet indexing to cut join processing time at production scale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Gradient Boosting model into live operations.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proven, the data infrastructure is in place, and the business case is clear.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192024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2057400"/>
            <a:ext cx="192024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2148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0604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flights caught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057400"/>
            <a:ext cx="192024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148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 min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 error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2057400"/>
            <a:ext cx="192024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2148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runs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1228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without a predictive delay system is a day of avoidable disruptions,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decision-making, and preventable customer churn.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Atai Kamchybekov  ·  Paul Nguyen  ·  Nicholas Sopcic  ·  Ilian Zalomai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995</Words>
  <Application>Microsoft Office PowerPoint</Application>
  <PresentationFormat>On-screen Show (16:9)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Flight Disruption Using Spark</dc:title>
  <dc:subject>PptxGenJS Presentation</dc:subject>
  <dc:creator>PptxGenJS</dc:creator>
  <cp:lastModifiedBy>Bao Le Duy Nguyen</cp:lastModifiedBy>
  <cp:revision>2</cp:revision>
  <dcterms:created xsi:type="dcterms:W3CDTF">2026-03-06T03:27:07Z</dcterms:created>
  <dcterms:modified xsi:type="dcterms:W3CDTF">2026-03-06T03:35:00Z</dcterms:modified>
</cp:coreProperties>
</file>