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CEB888"/>
                </a:solidFill>
              </a:defRPr>
            </a:pPr>
            <a:r>
              <a:t>Predictive Intelligence in Aviation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Big Data Analytics &amp; MLOps Final Briefing</a:t>
            </a:r>
          </a:p>
          <a:p>
            <a:r>
              <a:t>Spark MLlib | Hive | MLflow | Delta 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Operational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Aviation Operations: The $30B Delay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CEB8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Cancellations</a:t>
            </a:r>
          </a:p>
          <a:p>
            <a:r>
              <a:t>(Binary Classification)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Arrival Delays</a:t>
            </a:r>
          </a:p>
          <a:p>
            <a:r>
              <a:t>(Regression Modeling)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Target: High-fidelity forecasting to trigger 'proactive' rather than 'reactive' crew and gate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Multi-Source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Data Ingestion: From Raw Logs to Gold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91440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Airline Logs (CSV)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286000" cy="91440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Weather API (JSON)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286000" cy="91440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Airport Meta (CSV)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2926080"/>
            <a:ext cx="914400" cy="914400"/>
          </a:xfrm>
          <a:prstGeom prst="downArrow">
            <a:avLst/>
          </a:prstGeom>
          <a:solidFill>
            <a:srgbClr val="CEB8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4114800"/>
            <a:ext cx="2743200" cy="1371600"/>
          </a:xfrm>
          <a:prstGeom prst="rect">
            <a:avLst/>
          </a:prstGeom>
          <a:solidFill>
            <a:srgbClr val="CEB8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t>Unified 'Gold' Dataset</a:t>
            </a:r>
          </a:p>
          <a:p>
            <a:r>
              <a:t>(Delta Lake)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Weather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Non-Linear Disruption Drivers identified via Spark SQL:</a:t>
            </a:r>
          </a:p>
          <a:p>
            <a:r>
              <a:t>• Critical Wind Speed: &gt; 40 knots triggers exponential delay growth.</a:t>
            </a:r>
          </a:p>
          <a:p>
            <a:r>
              <a:t>• Precipitation Sensitivity: Hub-specific 'bottlenecks' identified (e.g., ORD, JFK).</a:t>
            </a:r>
          </a:p>
          <a:p>
            <a:r>
              <a:t>• Key Insight: 'Soil Moisture' (Weather Proxy) emerged as a primary predictive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EDA: Wind and Precipitation as Leading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Pipeline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Engineering: Decoupled Spark ML Pipelines</a:t>
            </a:r>
          </a:p>
        </p:txBody>
      </p:sp>
      <p:sp>
        <p:nvSpPr>
          <p:cNvPr id="5" name="Chevron 4"/>
          <p:cNvSpPr/>
          <p:nvPr/>
        </p:nvSpPr>
        <p:spPr>
          <a:xfrm>
            <a:off x="914400" y="2743200"/>
            <a:ext cx="1463040" cy="914400"/>
          </a:xfrm>
          <a:prstGeom prst="chevron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StringIndexer</a:t>
            </a:r>
          </a:p>
        </p:txBody>
      </p:sp>
      <p:sp>
        <p:nvSpPr>
          <p:cNvPr id="6" name="Chevron 5"/>
          <p:cNvSpPr/>
          <p:nvPr/>
        </p:nvSpPr>
        <p:spPr>
          <a:xfrm>
            <a:off x="2468880" y="2743200"/>
            <a:ext cx="1463040" cy="914400"/>
          </a:xfrm>
          <a:prstGeom prst="chevron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OneHotEncoder</a:t>
            </a:r>
          </a:p>
        </p:txBody>
      </p:sp>
      <p:sp>
        <p:nvSpPr>
          <p:cNvPr id="7" name="Chevron 6"/>
          <p:cNvSpPr/>
          <p:nvPr/>
        </p:nvSpPr>
        <p:spPr>
          <a:xfrm>
            <a:off x="4023360" y="2743200"/>
            <a:ext cx="1463040" cy="914400"/>
          </a:xfrm>
          <a:prstGeom prst="chevron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VectorAssembler</a:t>
            </a:r>
          </a:p>
        </p:txBody>
      </p:sp>
      <p:sp>
        <p:nvSpPr>
          <p:cNvPr id="8" name="Chevron 7"/>
          <p:cNvSpPr/>
          <p:nvPr/>
        </p:nvSpPr>
        <p:spPr>
          <a:xfrm>
            <a:off x="5577840" y="2743200"/>
            <a:ext cx="1463040" cy="914400"/>
          </a:xfrm>
          <a:prstGeom prst="chevron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CrossValidator</a:t>
            </a:r>
          </a:p>
        </p:txBody>
      </p:sp>
      <p:sp>
        <p:nvSpPr>
          <p:cNvPr id="9" name="Chevron 8"/>
          <p:cNvSpPr/>
          <p:nvPr/>
        </p:nvSpPr>
        <p:spPr>
          <a:xfrm>
            <a:off x="7132320" y="2743200"/>
            <a:ext cx="1463040" cy="914400"/>
          </a:xfrm>
          <a:prstGeom prst="chevron">
            <a:avLst/>
          </a:prstGeom>
          <a:solidFill>
            <a:srgbClr val="CEB8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Hyperparameter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Results: Achieving Industrial-Grade Accuracy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Model Task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Regression (Delay)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Regression (Delay)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0.91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&lt; 180ms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Governance: MLflow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Reproducibility and Auditability:</a:t>
            </a:r>
          </a:p>
          <a:p>
            <a:pPr/>
            <a:r>
              <a:t>• Experiment Tracking: Automatic logging of maxDepth, numTrees, and regParam.</a:t>
            </a:r>
          </a:p>
          <a:p>
            <a:pPr/>
            <a:r>
              <a:t>• Model Registry: Deployment of 'Champion' vs 'Challenger' models.</a:t>
            </a:r>
          </a:p>
          <a:p>
            <a:pPr/>
            <a:r>
              <a:t>• Artifact Persistence: Serialized Pipelines saved to DBFS.</a:t>
            </a:r>
          </a:p>
          <a:p>
            <a:pPr/>
            <a:r>
              <a:t>• Data Versioning: Delta Lake Time-Travel ensures training set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MLOps: Full Lifecycle Tracking with MLflow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Strategic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Strategy: Moving from Data to Actionable Intel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Dynamic High-Alert Protocol (DHAP):</a:t>
            </a:r>
          </a:p>
          <a:p>
            <a:r>
              <a:t>1. Trigger: Predictive probability &gt; 85%.</a:t>
            </a:r>
          </a:p>
          <a:p>
            <a:r>
              <a:t>2. Action: 2-hour proactive staging window for ground crews.</a:t>
            </a:r>
          </a:p>
          <a:p>
            <a:r>
              <a:t>3. Result: $2.4M projected annual savings on emergency rebooking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Upcoming Engineering Phases:</a:t>
            </a:r>
          </a:p>
          <a:p>
            <a:r>
              <a:t>• Real-Time Integration: Streaming ATC (Air Traffic Control) data via Spark Structured Streaming.</a:t>
            </a:r>
          </a:p>
          <a:p>
            <a:r>
              <a:t>• Efficiency: Implementing Z-Order Indexing on weather joins.</a:t>
            </a:r>
          </a:p>
          <a:p>
            <a:r>
              <a:t>• Scope Expansion: Integrating Tail-Number Maintenance logs for mechanical delay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  Next Steps: Scaling the Predictive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CEB888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Q&amp;A | ilian-zalomai/Big-Data-MLOps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